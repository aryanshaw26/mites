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640080"/>
            <a:ext cx="1005840" cy="1005840"/>
          </a:xfrm>
          <a:prstGeom prst="ellipse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371600"/>
            <a:ext cx="548640" cy="548640"/>
          </a:xfrm>
          <a:prstGeom prst="ellipse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1828800"/>
            <a:ext cx="320040" cy="320040"/>
          </a:xfrm>
          <a:prstGeom prst="ellipse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8778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DATA ANALYST</a:t>
            </a:r>
          </a:p>
          <a:p>
            <a:r>
              <a:rPr sz="3600" b="1">
                <a:solidFill>
                  <a:srgbClr val="1CB4C4"/>
                </a:solidFill>
              </a:rPr>
              <a:t>Career Roadmap</a:t>
            </a:r>
          </a:p>
          <a:p>
            <a:r>
              <a:rPr sz="1600">
                <a:solidFill>
                  <a:srgbClr val="CDD7E6"/>
                </a:solidFill>
              </a:rPr>
              <a:t>Skills • Projects • Interview Readiness • Job-Ready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1E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64008" cy="105156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078224"/>
            <a:ext cx="4846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21C2D"/>
                </a:solidFill>
                <a:highlight>
                  <a:srgbClr val="00FFFF"/>
                </a:highlight>
              </a:rPr>
              <a:t>TARGET STACK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2D3748"/>
                </a:solidFill>
                <a:highlight>
                  <a:srgbClr val="00FFFF"/>
                </a:highlight>
              </a:rPr>
              <a:t>SQL  •  Excel  •  Power BI  •  Python  •  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4480560" cy="1051560"/>
          </a:xfrm>
          <a:prstGeom prst="roundRect">
            <a:avLst/>
          </a:prstGeom>
          <a:solidFill>
            <a:srgbClr val="1E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64008" cy="105156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4078224"/>
            <a:ext cx="4114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21C2D"/>
                </a:solidFill>
                <a:highlight>
                  <a:srgbClr val="00FFFF"/>
                </a:highlight>
              </a:rPr>
              <a:t>NORTH STAR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2D3748"/>
                </a:solidFill>
                <a:highlight>
                  <a:srgbClr val="00FFFF"/>
                </a:highlight>
              </a:rPr>
              <a:t>Raw data → insight → dashboard → business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Where You Are vs. Where You Need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Your technical base is strong; the main gap is analytics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41605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63624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CURRENT STRENGTHS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• Python
• SQL + PostgreSQL
• Machine Learning
• Full-stack development
• Git
• DBMS / CS fundamentals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64008" cy="416052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563624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ANALYTICS GAP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• Advanced Excel practice
• Power BI depth
• Tableau practice
• DAX + Power Query
• Practical statistics
• Business KPI thinking
• Analytics portfolio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417320"/>
            <a:ext cx="38404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1417320"/>
            <a:ext cx="64008" cy="416052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563624"/>
            <a:ext cx="34747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TARGET POSITIONING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Data Analyst
SQL | Power BI | Excel | Python
Keep ML + software as a technical advantage — but make business analytics the headline.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What Employers Commonly Look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The recurring entry-level stack is practical, not certificate-heavy.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SQL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★★★★★
Advanced querying, joins, CTEs, windows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6002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Excel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★★★★★
Formulas, pivots, Power Query,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83880" y="1325880"/>
            <a:ext cx="64008" cy="160020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47218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Power BI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★★★★★
Power Query, modeling, DAX,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291839"/>
            <a:ext cx="64008" cy="160020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43814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Python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
Pandas, NumPy, EDA,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3291839"/>
            <a:ext cx="64008" cy="160020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43814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Statistics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
Descriptive + practical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2918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80" y="3291839"/>
            <a:ext cx="64008" cy="1600200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3438144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Business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★★★★★
KPIs, trends, recommendations,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5-Phase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Move from tool familiarity to demonstrable business analytics 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29968" cy="2834640"/>
          </a:xfrm>
          <a:prstGeom prst="roundRect">
            <a:avLst/>
          </a:prstGeom>
          <a:solidFill>
            <a:srgbClr val="1C2A40"/>
          </a:solidFill>
          <a:ln>
            <a:solidFill>
              <a:srgbClr val="23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800" b="1">
                <a:solidFill>
                  <a:srgbClr val="239B69"/>
                </a:solidFill>
              </a:rPr>
              <a:t>01</a:t>
            </a:r>
          </a:p>
          <a:p>
            <a:r>
              <a:rPr sz="2100" b="1">
                <a:solidFill>
                  <a:srgbClr val="FFFFFF"/>
                </a:solidFill>
              </a:rPr>
              <a:t>Excel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D7E1EE"/>
                </a:solidFill>
              </a:rPr>
              <a:t>Clean • transform • summarize •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828800"/>
            <a:ext cx="2029968" cy="2834640"/>
          </a:xfrm>
          <a:prstGeom prst="roundRect">
            <a:avLst/>
          </a:prstGeom>
          <a:solidFill>
            <a:srgbClr val="1C2A40"/>
          </a:solidFill>
          <a:ln>
            <a:solidFill>
              <a:srgbClr val="2A6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800" b="1">
                <a:solidFill>
                  <a:srgbClr val="2A66DE"/>
                </a:solidFill>
              </a:rPr>
              <a:t>02</a:t>
            </a:r>
          </a:p>
          <a:p>
            <a:r>
              <a:rPr sz="2100" b="1">
                <a:solidFill>
                  <a:srgbClr val="FFFFFF"/>
                </a:solidFill>
              </a:rPr>
              <a:t>SQL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D7E1EE"/>
                </a:solidFill>
              </a:rPr>
              <a:t>Query • join • CTE • window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28800"/>
            <a:ext cx="2029968" cy="2834640"/>
          </a:xfrm>
          <a:prstGeom prst="roundRect">
            <a:avLst/>
          </a:prstGeom>
          <a:solidFill>
            <a:srgbClr val="1C2A40"/>
          </a:solidFill>
          <a:ln>
            <a:solidFill>
              <a:srgbClr val="1C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800" b="1">
                <a:solidFill>
                  <a:srgbClr val="1CB4C4"/>
                </a:solidFill>
              </a:rPr>
              <a:t>03</a:t>
            </a:r>
          </a:p>
          <a:p>
            <a:r>
              <a:rPr sz="2100" b="1">
                <a:solidFill>
                  <a:srgbClr val="FFFFFF"/>
                </a:solidFill>
              </a:rPr>
              <a:t>Power BI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D7E1EE"/>
                </a:solidFill>
              </a:rPr>
              <a:t>Model • DAX • Power Query • visualize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7224" y="1828800"/>
            <a:ext cx="2029968" cy="2834640"/>
          </a:xfrm>
          <a:prstGeom prst="roundRect">
            <a:avLst/>
          </a:prstGeom>
          <a:solidFill>
            <a:srgbClr val="1C2A40"/>
          </a:solidFill>
          <a:ln>
            <a:solidFill>
              <a:srgbClr val="77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800" b="1">
                <a:solidFill>
                  <a:srgbClr val="7753BE"/>
                </a:solidFill>
              </a:rPr>
              <a:t>04</a:t>
            </a:r>
          </a:p>
          <a:p>
            <a:r>
              <a:rPr sz="2100" b="1">
                <a:solidFill>
                  <a:srgbClr val="FFFFFF"/>
                </a:solidFill>
              </a:rPr>
              <a:t>Python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D7E1EE"/>
                </a:solidFill>
              </a:rPr>
              <a:t>Pandas • EDA • statistics •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11512" y="1828800"/>
            <a:ext cx="2029968" cy="2834640"/>
          </a:xfrm>
          <a:prstGeom prst="roundRect">
            <a:avLst/>
          </a:prstGeom>
          <a:solidFill>
            <a:srgbClr val="1C2A40"/>
          </a:solidFill>
          <a:ln>
            <a:solidFill>
              <a:srgbClr val="EB8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800" b="1">
                <a:solidFill>
                  <a:srgbClr val="EB8F2D"/>
                </a:solidFill>
              </a:rPr>
              <a:t>05</a:t>
            </a:r>
          </a:p>
          <a:p>
            <a:r>
              <a:rPr sz="2100" b="1">
                <a:solidFill>
                  <a:srgbClr val="FFFFFF"/>
                </a:solidFill>
              </a:rPr>
              <a:t>Statistics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D7E1EE"/>
                </a:solidFill>
              </a:rPr>
              <a:t>Inference • correlation • A/B testing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PHASE 1 — Advanced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Goal: handle a messy business spreadsheet without hand-holding.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MASTER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SUM / AVERAGE / COUNT
IF / AND / OR / IFERROR
XLOOKUP / VLOOKUP
INDEX + MATCH
SUMIFS / COUNTIFS
Sorting / filtering
Duplicates / missing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ANALYZE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Pivot Tables
Pivot Charts
Slicers
Conditional formatting
KPI cards
Trend charts
Business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25880"/>
            <a:ext cx="64008" cy="443484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72184"/>
            <a:ext cx="3291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POWER QUERY + OUTPUT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Clean → merge → append → transform → refresh
Build:
• 1 Excel sales dashboard
• 1 operations dashboard
• 1 financial/KPI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0865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7371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3876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0382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PHASE 2 —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Goal: turn business questions into reliable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FOUNDATION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SELECT
WHERE
ORDER BY
GROUP BY
HAVING
DISTINCT
CASE
Aggregations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INTERMEDIATE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INNER / LEFT / RIGHT / FULL JOIN
Subqueries
CTEs
Date functions
String functions
Data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25880"/>
            <a:ext cx="64008" cy="4434840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72184"/>
            <a:ext cx="3291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ADVANCED — PRIORITY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ROW_NUMBER
RANK / DENSE_RANK
LAG / LEAD
Running totals
Moving averages
Cohorts / retention
Target: 100–150 quality problems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0865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7371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3876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0382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PHASE 3 —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Goal: build dashboards that answer business questions, not just look good.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POWER QUERY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Import
Data types
Missing values
Duplicates
Merge
Append
Transformations
Refreshable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 MODELING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Fact vs Dimension
Relationships
Star schema
Date table
Measures vs calculated columns
Model hygiene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25880"/>
            <a:ext cx="64008" cy="443484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72184"/>
            <a:ext cx="3291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DAX + STORYTELLING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CALCULATE • FILTER • ALL
SUMX • AVERAGEX • DIVIDE
YoY • MoM • YTD
KPI cards • drilldowns • slicers
Primary BI: Power BI
Secondary: Tableau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0865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7371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3876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0382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PHASE 4 — Python for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Use your Python advantage — but focus it on analysis, not software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PANDAS / NUMPY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read_csv
info / describe
isnull / fillna
merge / concat
groupby
pivot_table
sort_values
drop_duplicates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72184"/>
            <a:ext cx="3108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EDA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Distributions
Outliers
Trend analysis
Correlation
Segmentation
Data quality checks
Matplotlib
Seaborn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25880"/>
            <a:ext cx="64008" cy="443484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72184"/>
            <a:ext cx="3291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DELIVERABLE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Notebook that tells a story:
1. Question
2. Data quality
3. Exploration
4. Findings
5. Visual evidence
6. Business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0865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7371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3876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0382" y="5989320"/>
            <a:ext cx="2106777" cy="320040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697382"/>
                </a:solidFill>
              </a:rPr>
              <a:t>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PHASE 5 — Practical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You do not need to become a statistician. You need to make better analytical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128016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DESCRIPTIVE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Mean • median • mode • variance • standard deviation • percentiles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64008" cy="128016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426463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DISTRIBUTIONS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Normal distribution • skewness •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2928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852928"/>
            <a:ext cx="64008" cy="128016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999232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RELATIONSHIPS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Correlation • covariance • interpretation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52928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2852928"/>
            <a:ext cx="64008" cy="128016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2999232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INFERENCE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Population • sample • confidence interval • hypothesis testing • p-value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25696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425696"/>
            <a:ext cx="64008" cy="128016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572000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EXPERIMENTATION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A/B testing basics • conversion metrics • significance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425696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4425696"/>
            <a:ext cx="64008" cy="1280160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4572000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BUSINESS ANALYTICS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Retention • churn • cohorts • conversion • LTV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0865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7371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43876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0382" y="5989320"/>
            <a:ext cx="2106777" cy="320040"/>
          </a:xfrm>
          <a:prstGeom prst="round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The Project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Every portfolio project should prove the full analyst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2A6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66DE"/>
                </a:solidFill>
              </a:rPr>
              <a:t>01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1C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B4C4"/>
                </a:solidFill>
              </a:rPr>
              <a:t>02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23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9B69"/>
                </a:solidFill>
              </a:rPr>
              <a:t>03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Clean + 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7256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77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753BE"/>
                </a:solidFill>
              </a:rPr>
              <a:t>04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SQL / 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EB8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8F2D"/>
                </a:solidFill>
              </a:rPr>
              <a:t>05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D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34C4C"/>
                </a:solidFill>
              </a:rPr>
              <a:t>06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97312" y="2331720"/>
            <a:ext cx="1417320" cy="1645920"/>
          </a:xfrm>
          <a:prstGeom prst="roundRect">
            <a:avLst/>
          </a:prstGeom>
          <a:solidFill>
            <a:srgbClr val="1D2B41"/>
          </a:solidFill>
          <a:ln>
            <a:solidFill>
              <a:srgbClr val="2A6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66DE"/>
                </a:solidFill>
              </a:rPr>
              <a:t>07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663440"/>
            <a:ext cx="6675120" cy="822960"/>
          </a:xfrm>
          <a:prstGeom prst="roundRect">
            <a:avLst/>
          </a:prstGeom>
          <a:solidFill>
            <a:srgbClr val="1E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4663440"/>
            <a:ext cx="64008" cy="82296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4368" y="4809744"/>
            <a:ext cx="63093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21C2D"/>
                </a:solidFill>
                <a:highlight>
                  <a:srgbClr val="00FF00"/>
                </a:highlight>
              </a:rPr>
              <a:t>RULE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D3748"/>
                </a:solidFill>
                <a:highlight>
                  <a:srgbClr val="00FF00"/>
                </a:highlight>
              </a:rPr>
              <a:t>A dashboard without a business question is a visualization exercise — not a strong analyst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PROJECT 1 — E-Commerce Sales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Flagship beginner project: Excel + SQL + Power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DATASET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Order_ID
Order_Date
Customer_ID
City / State
Category / Product
Quantity
Unit_Price
Discount
Revenue / Profit
Payment_Method
Shipping_Mode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64008" cy="452628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QUESTIONS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Total revenue / profit
AOV / orders / units
Best &amp; worst products
Category performance
State / city performance
Monthly trends
Top customers
New vs returning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801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280160"/>
            <a:ext cx="64008" cy="452628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26463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DELIVERABLES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20k–50k+ realistic rows
Excel cleaning + analysis
20–30 SQL queries
Power BI dashboard
GitHub README
Business insights +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PROJECT 2 — Marketing Campaign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Learn the language of growth: spend, conversion and return.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Customer_ID
Campaign_ID
Channel
Campaign
Spend
Impressions
Clicks
Conversions
Revenue
Date
Customer_Segment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64008" cy="452628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CORE METRICS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CTR = Clicks / Impressions
Conversion Rate = Conversions / Clicks
CPC = Spend / Clicks
CPA = Spend / Conversions
ROAS = Revenue / Spend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801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280160"/>
            <a:ext cx="64008" cy="452628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26463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BUSINESS QUESTIONS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Best channel?
Highest ROAS?
Which segments convert?
Where is spend wasted?
Does spend drive revenue?
Tools: Python + SQL +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PROJECT 3 — Customer Churn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A strong business-analytics project: segmentation + retention +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Customer_ID
Age / Location
Signup_Date
Plan
Monthly_Spend
Tenure
Support_Tickets
Login_Frequency
Last_Login
Churn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64008" cy="452628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ANALYZE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Churn rate
Churn by plan
Churn by tenure
Support activity
Spend vs churn
Location / segment risk
Retention cohorts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801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280160"/>
            <a:ext cx="64008" cy="452628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26463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Overview
Customer segmentation
Churn analysis
Retention
Output: identify high-risk groups and recommend retention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PROJECT 4 — Supply Chain &amp; Inventory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Differentiator project: operations + inventory + supplier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Product_ID
Warehouse
Date
Stock
Units_Sold
Units_Received
Supplier
Lead_Time
Order_ID
Delivery_Date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64008" cy="452628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26463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KPIs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Inventory turnover
Stock-outs
Overstock
Demand trends
Supplier performance
Delivery performance
Warehouse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801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280160"/>
            <a:ext cx="64008" cy="452628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26463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OUTPUT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Inventory Overview
Warehouse Analysis
Supplier Analysis
Stock-out Analysis
Demand Trends
Tools: SQL + Excel +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PROJECT 5 + PROJECT 6 — Portfolio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Finish with breadth, then prove you can integrate the entire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64008" cy="438912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17904"/>
            <a:ext cx="49377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PROJECT 5 — HR ANALYTICS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Excel + SQL + Power BI
• Attrition / turnover
• Salary distribution
• Hiring trends
• Department performance
• Promotion patterns
• Employee satisfaction
Purpose: demonstrate another business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64008" cy="43891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17904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PROJECT 6 — END-TO-END ANALYTICS PLATFORM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Python → PostgreSQL → SQL → Power BI
Raw CSV/API
↓
Cleaning + validation
↓
Database
↓
Analytical SQL
↓
Data model
↓
Dashboard
↓
Business recommendations
This becomes your centerpiece.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How Your GitHub Portfolio Should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Make every project reproducible and easy for a recruiter to understand.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754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52628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389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REPOSITORY STRUCTURE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ecommerce-sales-analysis/
├── data/
│   ├── raw/
│   └── cleaned/
├── sql/
│   ├── schema.sql
│   ├── analysis.sql
│   └── advanced_queries.sql
├── python/
│   └── EDA.ipynb
├── powerbi/
│   └── dashboard.pbix
├── screenshots/
└── README.md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5806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0" y="1325880"/>
            <a:ext cx="64008" cy="452628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16168" y="1472184"/>
            <a:ext cx="54406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README MUST ANSWER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2D3748"/>
                </a:solidFill>
              </a:rPr>
              <a:t>1. Business problem
2. Dataset
3. Tools used
4. Data cleaning
5. SQL analysis
6. Data model
7. Dashboard
8. Key insights
9. Business recommendations
Avoid: “Created a Power BI dashboard.”
Prefer: “Identified the top revenue drivers and quantified the business impact.”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Roles to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Don't search only for “Data Analyst.”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64008" cy="420624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09344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PRIMARY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Data Analyst
Junior Data Analyst
Associate Data Analyst
Data Analyst Intern
Business Data Analyst
Reporting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64008" cy="420624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09344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BI / REPORTING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BI Analyst
Business Intelligence Analyst
Data &amp; Reporting Analyst
MIS Analyst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83879" y="1463040"/>
            <a:ext cx="64008" cy="420624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609344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DOMAIN ANALYST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Product Analyst
Marketing Analyst
Operations Analyst
Business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Interview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Train for the work companies actually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38912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38912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21C2D"/>
                </a:solidFill>
                <a:highlight>
                  <a:srgbClr val="00FF00"/>
                </a:highlight>
              </a:rPr>
              <a:t>SQL ROUND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2D3748"/>
                </a:solidFill>
                <a:highlight>
                  <a:srgbClr val="00FF00"/>
                </a:highlight>
              </a:rPr>
              <a:t>Joins
Aggregations
CTEs
Subqueries
CASE
Window functions
Retention / ranking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74720" cy="438912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64008" cy="438912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472184"/>
            <a:ext cx="310896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21C2D"/>
                </a:solidFill>
                <a:highlight>
                  <a:srgbClr val="00FF00"/>
                </a:highlight>
              </a:rPr>
              <a:t>EXCEL + BI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D3748"/>
                </a:solidFill>
                <a:highlight>
                  <a:srgbClr val="00FFFF"/>
                </a:highlight>
              </a:rPr>
              <a:t>XLOOKUP
SUMIFS / COUNTIFS
Pivot tables
Power Query
DAX
Measures vs columns
Star schema
YoY / MoM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3657600" cy="438912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25880"/>
            <a:ext cx="64008" cy="438912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72184"/>
            <a:ext cx="3291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21C2D"/>
                </a:solidFill>
              </a:rPr>
              <a:t>BUSINESS CASE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2D3748"/>
                </a:solidFill>
                <a:highlight>
                  <a:srgbClr val="00FFFF"/>
                </a:highlight>
              </a:rPr>
              <a:t>“Sales fell 15%. Why?”
Validate → compare periods → segment by product/region/channel/customer → find largest contributor → investigate → recommend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★ POINT 27 — JOB-READY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THE MOST IMPORTANT SLIDE — use this as your gate before serious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7004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23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/>
            <a:r>
              <a:rPr sz="1600" b="1">
                <a:solidFill>
                  <a:srgbClr val="239B69"/>
                </a:solidFill>
              </a:rPr>
              <a:t>EXCEL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Clean messy spreadsheets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XLOOKUP / INDEX-MATCH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SUMIFS / COUNTIFS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Pivot tables + charts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Power Query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Build a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874519"/>
            <a:ext cx="267004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2A6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/>
            <a:r>
              <a:rPr sz="1600" b="1">
                <a:solidFill>
                  <a:srgbClr val="2A66DE"/>
                </a:solidFill>
              </a:rPr>
              <a:t>SQL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JOINs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GROUP BY / HAVING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CASE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CTEs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Subqueries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Window functions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Solve business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1874519"/>
            <a:ext cx="267004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1C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/>
            <a:r>
              <a:rPr sz="1600" b="1">
                <a:solidFill>
                  <a:srgbClr val="1CB4C4"/>
                </a:solidFill>
              </a:rPr>
              <a:t>POWER BI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Power Query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Data modeling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Relationships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Star schema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DAX measures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Time intelligence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Dashboard storytelling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26296" y="1874519"/>
            <a:ext cx="267004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77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/>
            <a:r>
              <a:rPr sz="1600" b="1">
                <a:solidFill>
                  <a:srgbClr val="7753BE"/>
                </a:solidFill>
              </a:rPr>
              <a:t>PYTHON + STATS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Pandas / NumPy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EDA + visualization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Outliers / correlation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Mean / median / SD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Hypothesis testing basics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748"/>
                </a:solidFill>
              </a:rPr>
              <a:t>☐ A/B testing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When You Should Start Applying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Do not wait for perfection. Use a minimum viable job-ready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64008" cy="448056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17904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START APPLYING WHEN…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☑ Strong SQL basics
☑ Advanced Excel
☑ Power BI fundamentals
☑ Python / Pandas
☑ 2 strong analytics projects
☑ GitHub portfolio
☑ Data Analyst CV
Then keep building projects while applying.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80760" y="1371600"/>
            <a:ext cx="64008" cy="448056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517904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KEEP IMPROVING AFTER YOU APPLY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D3748"/>
                </a:solidFill>
              </a:rPr>
              <a:t>Project 3 → churn
Project 4 → supply chain
Project 5 → HR
Project 6 → end-to-end
At the same time:
• SQL interview practice
• Excel case practice
• Power BI interview questions
• Business case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12-Week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A practical sequence after finishing the course.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1874519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W1–2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Excel
3 dashboards +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10712" y="1325880"/>
            <a:ext cx="64008" cy="1874519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W3–4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SQL
100–150 quality problems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18504" y="1325880"/>
            <a:ext cx="64008" cy="1874519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W5–6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Power BI
Modeling + DAX + Project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6296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26296" y="1325880"/>
            <a:ext cx="64008" cy="1874519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27464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W7–8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Marketing
Project 2: Python + SQL +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64008" cy="1874519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W9–10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Churn
Project 3: Python + SQL +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10712" y="3566160"/>
            <a:ext cx="64008" cy="1874519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W11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Supply Chain
Project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8504" y="3566160"/>
            <a:ext cx="64008" cy="1874519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W12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Portfolio
GitHub + CV + interview prep +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Weekly Practice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~13–15 hours/week. Consistency beats marathon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64008" cy="347472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Mon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SQL
1.5 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67128" y="1600200"/>
            <a:ext cx="64008" cy="34747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8296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Tue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Excel
1.5 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1336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31336" y="1600200"/>
            <a:ext cx="64008" cy="347472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32504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Wed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SQL
1.5 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95544" y="1600200"/>
            <a:ext cx="64008" cy="347472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96712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Thu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Power BI
2 hr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9752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59752" y="1600200"/>
            <a:ext cx="64008" cy="347472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Fri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Python analytics
1.5 hr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1600200"/>
            <a:ext cx="64008" cy="347472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8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Sat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Project build
3–4 hr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88168" y="1600200"/>
            <a:ext cx="14813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488168" y="1600200"/>
            <a:ext cx="64008" cy="3474720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89336" y="1746504"/>
            <a:ext cx="11155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1C2D"/>
                </a:solidFill>
              </a:rPr>
              <a:t>Sun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D3748"/>
                </a:solidFill>
              </a:rPr>
              <a:t>Project + interview
3 hr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394960"/>
            <a:ext cx="6675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0" y="5394960"/>
            <a:ext cx="64008" cy="68580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5541264"/>
            <a:ext cx="6309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21C2D"/>
                </a:solidFill>
              </a:rPr>
              <a:t>RULE</a:t>
            </a:r>
          </a:p>
          <a:p>
            <a:pPr>
              <a:spcBef>
                <a:spcPts val="600"/>
              </a:spcBef>
            </a:pPr>
            <a:r>
              <a:rPr sz="1150" dirty="0">
                <a:solidFill>
                  <a:srgbClr val="2D3748"/>
                </a:solidFill>
              </a:rPr>
              <a:t>Every week must produce something visible: query set, dashboard, notebook, README, or interview answers.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Your Resume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Use role-specific resumes instead of one resume for every technical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64008" cy="43434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17904"/>
            <a:ext cx="3063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DATA ANALYST CV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Headline:
Data Analyst | SQL | Power BI | Excel | Python
Lead with:
E-commerce
Marketing
Churn
Supply Chain
ML/software become supporting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64008" cy="434340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517904"/>
            <a:ext cx="3063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SOFTWARE CV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Headline:
Software Engineer / Full Stack
Lead with:
React
FastAPI
PostgreSQL
APIs
DSA
Keep analytics secondary.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71600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371600"/>
            <a:ext cx="64008" cy="4343400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517904"/>
            <a:ext cx="3291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C2D"/>
                </a:solidFill>
              </a:rPr>
              <a:t>ML / AI CV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D3748"/>
                </a:solidFill>
              </a:rPr>
              <a:t>Headline:
ML / AI Engineer
Lead with:
Python
ML
Deep Learning
Computer Vision
Model evaluation
Analytics becomes supporting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The Mindset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Your course is the starting line, not the finish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3840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B4C3D7"/>
                </a:solidFill>
              </a:rPr>
              <a:t>COURSE COMPLETED</a:t>
            </a:r>
          </a:p>
          <a:p>
            <a:pPr algn="ctr"/>
            <a:r>
              <a:rPr sz="3400" b="0">
                <a:solidFill>
                  <a:srgbClr val="1CB4C4"/>
                </a:solidFill>
              </a:rPr>
              <a:t>↓</a:t>
            </a:r>
          </a:p>
          <a:p>
            <a:pPr algn="ctr"/>
            <a:r>
              <a:rPr sz="3400" b="1">
                <a:solidFill>
                  <a:srgbClr val="239B69"/>
                </a:solidFill>
              </a:rPr>
              <a:t>PRACTICE</a:t>
            </a:r>
          </a:p>
          <a:p>
            <a:pPr algn="ctr"/>
            <a:r>
              <a:rPr sz="3400" b="0">
                <a:solidFill>
                  <a:srgbClr val="1CB4C4"/>
                </a:solidFill>
              </a:rPr>
              <a:t>↓</a:t>
            </a:r>
          </a:p>
          <a:p>
            <a:pPr algn="ctr"/>
            <a:r>
              <a:rPr sz="3400" b="1">
                <a:solidFill>
                  <a:srgbClr val="EB8F2D"/>
                </a:solidFill>
              </a:rPr>
              <a:t>PORTFOLIO</a:t>
            </a:r>
          </a:p>
          <a:p>
            <a:pPr algn="ctr"/>
            <a:r>
              <a:rPr sz="3400" b="0">
                <a:solidFill>
                  <a:srgbClr val="1CB4C4"/>
                </a:solidFill>
              </a:rPr>
              <a:t>↓</a:t>
            </a:r>
          </a:p>
          <a:p>
            <a:pPr algn="ctr"/>
            <a:r>
              <a:rPr sz="3400" b="1">
                <a:solidFill>
                  <a:srgbClr val="FFFFFF"/>
                </a:solidFill>
              </a:rPr>
              <a:t>INTERVIEWS →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C2D"/>
                </a:solidFill>
              </a:rPr>
              <a:t>Your 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382"/>
                </a:solidFill>
              </a:rPr>
              <a:t>Start here — no more broad courses for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1874519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1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Excel practice
Build the first sales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10712" y="1325880"/>
            <a:ext cx="64008" cy="1874519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2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SQL intensive
Start joins → CTEs →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18504" y="1325880"/>
            <a:ext cx="64008" cy="1874519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3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Power BI
Learn modeling + DAX + Power Query.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6296" y="132588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26296" y="1325880"/>
            <a:ext cx="64008" cy="1874519"/>
          </a:xfrm>
          <a:prstGeom prst="rect">
            <a:avLst/>
          </a:prstGeom>
          <a:solidFill>
            <a:srgbClr val="77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27464" y="147218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4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Project 1
E-commerce Sales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64008" cy="1874519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5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Project 2
Marketing Campaign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10712" y="3566160"/>
            <a:ext cx="64008" cy="1874519"/>
          </a:xfrm>
          <a:prstGeom prst="rect">
            <a:avLst/>
          </a:prstGeom>
          <a:solidFill>
            <a:srgbClr val="D3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6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Project 3
Customer Churn &amp; Retention.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8504" y="3566160"/>
            <a:ext cx="64008" cy="1874519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7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Project 4
Supply Chain &amp; Inventory.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3566160"/>
            <a:ext cx="263347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26296" y="3566160"/>
            <a:ext cx="64008" cy="1874519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27464" y="3712464"/>
            <a:ext cx="226771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</a:rPr>
              <a:t>8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2D3748"/>
                </a:solidFill>
              </a:rPr>
              <a:t>Job-ready check
Use Point 27 before serious applications.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The Target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Become someone who can answer a business question with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287000" cy="91440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64008" cy="914400"/>
          </a:xfrm>
          <a:prstGeom prst="rect">
            <a:avLst/>
          </a:prstGeom>
          <a:solidFill>
            <a:srgbClr val="1C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563624"/>
            <a:ext cx="9921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21C2D"/>
                </a:solidFill>
                <a:highlight>
                  <a:srgbClr val="C0C0C0"/>
                </a:highlight>
              </a:rPr>
              <a:t>CORE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2D3748"/>
                </a:solidFill>
                <a:highlight>
                  <a:srgbClr val="00FFFF"/>
                </a:highlight>
              </a:rPr>
              <a:t>SQL  +  Excel  +  Power BI  +  Python  + 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10287000" cy="91440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64008" cy="9144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752344"/>
            <a:ext cx="99212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21C2D"/>
                </a:solidFill>
                <a:highlight>
                  <a:srgbClr val="C0C0C0"/>
                </a:highlight>
              </a:rPr>
              <a:t>PROOF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2D3748"/>
                </a:solidFill>
                <a:highlight>
                  <a:srgbClr val="00FFFF"/>
                </a:highlight>
              </a:rPr>
              <a:t>4–6 business analytics projects with GitHub documentation and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10287000" cy="91440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3794760"/>
            <a:ext cx="64008" cy="914400"/>
          </a:xfrm>
          <a:prstGeom prst="rect">
            <a:avLst/>
          </a:prstGeom>
          <a:solidFill>
            <a:srgbClr val="EB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941064"/>
            <a:ext cx="99212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21C2D"/>
                </a:solidFill>
                <a:highlight>
                  <a:srgbClr val="808080"/>
                </a:highlight>
              </a:rPr>
              <a:t>OUTCOME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2D3748"/>
                </a:solidFill>
                <a:highlight>
                  <a:srgbClr val="00FFFF"/>
                </a:highlight>
              </a:rPr>
              <a:t>Data Analyst / BI Analyst / Business Data Analyst / Product Analyst 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83480"/>
            <a:ext cx="10287000" cy="777240"/>
          </a:xfrm>
          <a:prstGeom prst="roundRect">
            <a:avLst/>
          </a:prstGeom>
          <a:solidFill>
            <a:srgbClr val="1D2B41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2A6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5129784"/>
            <a:ext cx="9921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21C2D"/>
                </a:solidFill>
                <a:highlight>
                  <a:srgbClr val="808080"/>
                </a:highlight>
              </a:rPr>
              <a:t>NORTH STAR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2D3748"/>
                </a:solidFill>
                <a:highlight>
                  <a:srgbClr val="00FFFF"/>
                </a:highlight>
              </a:rPr>
              <a:t>Raw data → clean data → analysis → insight →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2432</Words>
  <Application>Microsoft Office PowerPoint</Application>
  <PresentationFormat>Widescreen</PresentationFormat>
  <Paragraphs>338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Shaw</cp:lastModifiedBy>
  <cp:revision>2</cp:revision>
  <dcterms:created xsi:type="dcterms:W3CDTF">2013-01-27T09:14:16Z</dcterms:created>
  <dcterms:modified xsi:type="dcterms:W3CDTF">2026-09-11T02:42:36Z</dcterms:modified>
  <cp:category/>
</cp:coreProperties>
</file>